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5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4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211">
          <p15:clr>
            <a:srgbClr val="9AA0A6"/>
          </p15:clr>
        </p15:guide>
        <p15:guide id="4" pos="1048">
          <p15:clr>
            <a:srgbClr val="A4A3A4"/>
          </p15:clr>
        </p15:guide>
        <p15:guide id="5" pos="7401">
          <p15:clr>
            <a:srgbClr val="A4A3A4"/>
          </p15:clr>
        </p15:guide>
        <p15:guide id="6" orient="horz" pos="3974">
          <p15:clr>
            <a:srgbClr val="9AA0A6"/>
          </p15:clr>
        </p15:guide>
        <p15:guide id="7" orient="horz" pos="565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jsNs7cBCsvKrS8Esw9Okpragf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3"/>
  </p:normalViewPr>
  <p:slideViewPr>
    <p:cSldViewPr snapToGrid="0">
      <p:cViewPr varScale="1">
        <p:scale>
          <a:sx n="103" d="100"/>
          <a:sy n="103" d="100"/>
        </p:scale>
        <p:origin x="800" y="176"/>
      </p:cViewPr>
      <p:guideLst>
        <p:guide orient="horz" pos="414"/>
        <p:guide pos="3840"/>
        <p:guide orient="horz" pos="1211"/>
        <p:guide pos="1048"/>
        <p:guide pos="7401"/>
        <p:guide orient="horz" pos="3974"/>
        <p:guide orient="horz" pos="5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18a69967c6e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18a69967c6e_0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" name="Google Shape;33;g18a69967c6e_0_5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3C1A4BCD-4F33-78D4-5C8A-B395D0CFD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>
            <a:extLst>
              <a:ext uri="{FF2B5EF4-FFF2-40B4-BE49-F238E27FC236}">
                <a16:creationId xmlns:a16="http://schemas.microsoft.com/office/drawing/2014/main" id="{73F5BA64-4962-3EB1-CE06-F0140B632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>
            <a:extLst>
              <a:ext uri="{FF2B5EF4-FFF2-40B4-BE49-F238E27FC236}">
                <a16:creationId xmlns:a16="http://schemas.microsoft.com/office/drawing/2014/main" id="{72E4CCB9-1392-E2EE-22F6-D805B74DF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3:notes">
            <a:extLst>
              <a:ext uri="{FF2B5EF4-FFF2-40B4-BE49-F238E27FC236}">
                <a16:creationId xmlns:a16="http://schemas.microsoft.com/office/drawing/2014/main" id="{4FC79A95-4971-8FD6-5C70-36CCBFBC9B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0291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8a69967c6e_0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18a69967c6e_0_5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g18a69967c6e_0_5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8a69967c6e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18a69967c6e_0_5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g18a69967c6e_0_5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64a1591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f64a1591f3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g2f64a1591f3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7f4edb2c82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7f4edb2c82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7f4edb2c82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модуля без ВК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8a69967c6e_0_4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" name="Google Shape;15;g18a69967c6e_0_482"/>
          <p:cNvSpPr txBox="1">
            <a:spLocks noGrp="1"/>
          </p:cNvSpPr>
          <p:nvPr>
            <p:ph type="title"/>
          </p:nvPr>
        </p:nvSpPr>
        <p:spPr>
          <a:xfrm>
            <a:off x="2902650" y="2200475"/>
            <a:ext cx="63867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Roboto"/>
              <a:buNone/>
              <a:defRPr sz="48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18a69967c6e_0_482"/>
          <p:cNvSpPr txBox="1">
            <a:spLocks noGrp="1"/>
          </p:cNvSpPr>
          <p:nvPr>
            <p:ph type="subTitle" idx="1"/>
          </p:nvPr>
        </p:nvSpPr>
        <p:spPr>
          <a:xfrm>
            <a:off x="1044250" y="4957500"/>
            <a:ext cx="6791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Roboto"/>
              <a:buNone/>
              <a:defRPr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18a69967c6e_0_482"/>
          <p:cNvSpPr txBox="1">
            <a:spLocks noGrp="1"/>
          </p:cNvSpPr>
          <p:nvPr>
            <p:ph type="subTitle" idx="2"/>
          </p:nvPr>
        </p:nvSpPr>
        <p:spPr>
          <a:xfrm>
            <a:off x="1044250" y="5534950"/>
            <a:ext cx="67029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Roboto"/>
              <a:buNone/>
              <a:defRPr sz="18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g18a69967c6e_0_4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1437" y="1302325"/>
            <a:ext cx="1009125" cy="10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18a69967c6e_0_4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550" y="4874050"/>
            <a:ext cx="20825" cy="10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2 столбцами без ВК">
  <p:cSld name="OBJECT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8a69967c6e_0_504"/>
          <p:cNvSpPr txBox="1">
            <a:spLocks noGrp="1"/>
          </p:cNvSpPr>
          <p:nvPr>
            <p:ph type="body" idx="1"/>
          </p:nvPr>
        </p:nvSpPr>
        <p:spPr>
          <a:xfrm>
            <a:off x="4680000" y="1923150"/>
            <a:ext cx="3456900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  <a:defRPr>
                <a:solidFill>
                  <a:srgbClr val="002060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g18a69967c6e_0_504"/>
          <p:cNvSpPr txBox="1">
            <a:spLocks noGrp="1"/>
          </p:cNvSpPr>
          <p:nvPr>
            <p:ph type="body" idx="2"/>
          </p:nvPr>
        </p:nvSpPr>
        <p:spPr>
          <a:xfrm>
            <a:off x="8467866" y="1923150"/>
            <a:ext cx="3456900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  <a:defRPr>
                <a:solidFill>
                  <a:srgbClr val="002060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g18a69967c6e_0_504"/>
          <p:cNvSpPr txBox="1">
            <a:spLocks noGrp="1"/>
          </p:cNvSpPr>
          <p:nvPr>
            <p:ph type="title"/>
          </p:nvPr>
        </p:nvSpPr>
        <p:spPr>
          <a:xfrm>
            <a:off x="4696875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Roboto"/>
              <a:buNone/>
              <a:defRPr sz="32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8">
          <p15:clr>
            <a:srgbClr val="FA7B17"/>
          </p15:clr>
        </p15:guide>
        <p15:guide id="2" orient="horz" pos="121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артинкой без ВК">
  <p:cSld name="OBJECT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8a69967c6e_0_514"/>
          <p:cNvSpPr>
            <a:spLocks noGrp="1"/>
          </p:cNvSpPr>
          <p:nvPr>
            <p:ph type="pic" idx="2"/>
          </p:nvPr>
        </p:nvSpPr>
        <p:spPr>
          <a:xfrm>
            <a:off x="4696876" y="1923150"/>
            <a:ext cx="6963600" cy="43905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g18a69967c6e_0_514"/>
          <p:cNvSpPr txBox="1">
            <a:spLocks noGrp="1"/>
          </p:cNvSpPr>
          <p:nvPr>
            <p:ph type="title"/>
          </p:nvPr>
        </p:nvSpPr>
        <p:spPr>
          <a:xfrm>
            <a:off x="4696875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Roboto"/>
              <a:buNone/>
              <a:defRPr sz="32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8">
          <p15:clr>
            <a:srgbClr val="FA7B17"/>
          </p15:clr>
        </p15:guide>
        <p15:guide id="2" orient="horz" pos="1211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8a69967c6e_0_35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8a69967c6e_0_35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18a69967c6e_0_35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8a69967c6e_0_525"/>
          <p:cNvSpPr txBox="1">
            <a:spLocks noGrp="1"/>
          </p:cNvSpPr>
          <p:nvPr>
            <p:ph type="title"/>
          </p:nvPr>
        </p:nvSpPr>
        <p:spPr>
          <a:xfrm>
            <a:off x="2902650" y="2200475"/>
            <a:ext cx="63867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dirty="0"/>
              <a:t>Название проекта</a:t>
            </a:r>
            <a:endParaRPr i="1" dirty="0"/>
          </a:p>
        </p:txBody>
      </p:sp>
      <p:sp>
        <p:nvSpPr>
          <p:cNvPr id="36" name="Google Shape;36;g18a69967c6e_0_525"/>
          <p:cNvSpPr txBox="1">
            <a:spLocks noGrp="1"/>
          </p:cNvSpPr>
          <p:nvPr>
            <p:ph type="subTitle" idx="1"/>
          </p:nvPr>
        </p:nvSpPr>
        <p:spPr>
          <a:xfrm>
            <a:off x="1044250" y="4946150"/>
            <a:ext cx="6791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800" dirty="0"/>
              <a:t>ФИО</a:t>
            </a:r>
            <a:endParaRPr sz="2800" dirty="0"/>
          </a:p>
        </p:txBody>
      </p:sp>
      <p:sp>
        <p:nvSpPr>
          <p:cNvPr id="37" name="Google Shape;37;g18a69967c6e_0_525"/>
          <p:cNvSpPr txBox="1">
            <a:spLocks noGrp="1"/>
          </p:cNvSpPr>
          <p:nvPr>
            <p:ph type="subTitle" idx="2"/>
          </p:nvPr>
        </p:nvSpPr>
        <p:spPr>
          <a:xfrm>
            <a:off x="1044250" y="5534950"/>
            <a:ext cx="6702900" cy="108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 dirty="0"/>
              <a:t>Программа/направление</a:t>
            </a:r>
            <a:br>
              <a:rPr lang="ru-RU" dirty="0"/>
            </a:br>
            <a:r>
              <a:rPr lang="ru-RU" dirty="0"/>
              <a:t>Город, год</a:t>
            </a:r>
          </a:p>
        </p:txBody>
      </p:sp>
      <p:sp>
        <p:nvSpPr>
          <p:cNvPr id="3" name="Google Shape;116;p13">
            <a:extLst>
              <a:ext uri="{FF2B5EF4-FFF2-40B4-BE49-F238E27FC236}">
                <a16:creationId xmlns:a16="http://schemas.microsoft.com/office/drawing/2014/main" id="{7C031F89-CB11-EB31-2148-77DE1C70F8DC}"/>
              </a:ext>
            </a:extLst>
          </p:cNvPr>
          <p:cNvSpPr/>
          <p:nvPr/>
        </p:nvSpPr>
        <p:spPr>
          <a:xfrm>
            <a:off x="7933038" y="1234750"/>
            <a:ext cx="3693586" cy="877159"/>
          </a:xfrm>
          <a:prstGeom prst="rect">
            <a:avLst/>
          </a:prstGeom>
          <a:solidFill>
            <a:srgbClr val="FFD751">
              <a:alpha val="2940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chemeClr val="tx1"/>
                </a:solidFill>
              </a:rPr>
              <a:t>коротко представьтесь и озвучьте, какой проект вы защищаете.</a:t>
            </a:r>
          </a:p>
          <a:p>
            <a:pPr algn="ctr"/>
            <a:endParaRPr lang="ru-RU" sz="120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1663350" y="454908"/>
            <a:ext cx="8817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Проблема/Введение</a:t>
            </a:r>
          </a:p>
        </p:txBody>
      </p:sp>
      <p:sp>
        <p:nvSpPr>
          <p:cNvPr id="55" name="Google Shape;55;p3"/>
          <p:cNvSpPr txBox="1">
            <a:spLocks noGrp="1"/>
          </p:cNvSpPr>
          <p:nvPr>
            <p:ph type="body" idx="1"/>
          </p:nvPr>
        </p:nvSpPr>
        <p:spPr>
          <a:xfrm>
            <a:off x="1663349" y="1922475"/>
            <a:ext cx="9134521" cy="4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342900" indent="-342900">
              <a:spcAft>
                <a:spcPts val="1600"/>
              </a:spcAft>
            </a:pPr>
            <a:r>
              <a:rPr lang="ru-RU" sz="2400" dirty="0"/>
              <a:t>Текст</a:t>
            </a:r>
            <a:endParaRPr sz="2400" dirty="0"/>
          </a:p>
        </p:txBody>
      </p:sp>
      <p:sp>
        <p:nvSpPr>
          <p:cNvPr id="56" name="Google Shape;56;p3"/>
          <p:cNvSpPr txBox="1"/>
          <p:nvPr/>
        </p:nvSpPr>
        <p:spPr>
          <a:xfrm>
            <a:off x="1667346" y="6278750"/>
            <a:ext cx="705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baseline="30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Ссылка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6;p13">
            <a:extLst>
              <a:ext uri="{FF2B5EF4-FFF2-40B4-BE49-F238E27FC236}">
                <a16:creationId xmlns:a16="http://schemas.microsoft.com/office/drawing/2014/main" id="{2E24C92E-573A-8220-D7A9-3FBFECE571CD}"/>
              </a:ext>
            </a:extLst>
          </p:cNvPr>
          <p:cNvSpPr/>
          <p:nvPr/>
        </p:nvSpPr>
        <p:spPr>
          <a:xfrm>
            <a:off x="7945394" y="737541"/>
            <a:ext cx="3693586" cy="2306981"/>
          </a:xfrm>
          <a:prstGeom prst="rect">
            <a:avLst/>
          </a:prstGeom>
          <a:solidFill>
            <a:srgbClr val="FFD751">
              <a:alpha val="2940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200" i="1" dirty="0"/>
              <a:t>Напишите 1–2 тезиса: в чём суть проблемы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200" i="1" dirty="0"/>
              <a:t>Обозначьте, почему тема важна или расскажите, почему она может быть </a:t>
            </a:r>
            <a:r>
              <a:rPr lang="ru-RU" sz="1200" i="1"/>
              <a:t>интересна.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200" i="1"/>
              <a:t>Возможная </a:t>
            </a:r>
            <a:r>
              <a:rPr lang="ru-RU" sz="1200" i="1" dirty="0"/>
              <a:t>визуализация: инфографика, скрин, цитата, статистика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2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BDFCDD6-C7AC-8E32-9036-AAE30F42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>
            <a:extLst>
              <a:ext uri="{FF2B5EF4-FFF2-40B4-BE49-F238E27FC236}">
                <a16:creationId xmlns:a16="http://schemas.microsoft.com/office/drawing/2014/main" id="{B86C0FF7-A52F-689A-01C0-00BAF50B4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3350" y="454908"/>
            <a:ext cx="8817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Цели и задачи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55" name="Google Shape;55;p3">
            <a:extLst>
              <a:ext uri="{FF2B5EF4-FFF2-40B4-BE49-F238E27FC236}">
                <a16:creationId xmlns:a16="http://schemas.microsoft.com/office/drawing/2014/main" id="{5BDD87D2-869C-2B6C-FC45-343218292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3082" y="1922475"/>
            <a:ext cx="10622942" cy="4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dirty="0"/>
              <a:t>Текст</a:t>
            </a:r>
            <a:endParaRPr lang="ru-RU" sz="2400" dirty="0"/>
          </a:p>
        </p:txBody>
      </p:sp>
      <p:sp>
        <p:nvSpPr>
          <p:cNvPr id="56" name="Google Shape;56;p3">
            <a:extLst>
              <a:ext uri="{FF2B5EF4-FFF2-40B4-BE49-F238E27FC236}">
                <a16:creationId xmlns:a16="http://schemas.microsoft.com/office/drawing/2014/main" id="{E6AAEB66-1CC5-FF72-42FC-1E3421316489}"/>
              </a:ext>
            </a:extLst>
          </p:cNvPr>
          <p:cNvSpPr txBox="1"/>
          <p:nvPr/>
        </p:nvSpPr>
        <p:spPr>
          <a:xfrm>
            <a:off x="1667346" y="6278750"/>
            <a:ext cx="705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baseline="30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Ссылка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6;p13">
            <a:extLst>
              <a:ext uri="{FF2B5EF4-FFF2-40B4-BE49-F238E27FC236}">
                <a16:creationId xmlns:a16="http://schemas.microsoft.com/office/drawing/2014/main" id="{E3019863-EC2D-43C0-08CC-D15A3560F221}"/>
              </a:ext>
            </a:extLst>
          </p:cNvPr>
          <p:cNvSpPr/>
          <p:nvPr/>
        </p:nvSpPr>
        <p:spPr>
          <a:xfrm>
            <a:off x="7945394" y="737541"/>
            <a:ext cx="3693586" cy="2306981"/>
          </a:xfrm>
          <a:prstGeom prst="rect">
            <a:avLst/>
          </a:prstGeom>
          <a:solidFill>
            <a:srgbClr val="FFD751">
              <a:alpha val="2940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Обозначьте цель одной чёткой формулировкой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Выделите 2–3 задачи (кратко, в виде глаголов)</a:t>
            </a:r>
          </a:p>
          <a:p>
            <a:pPr marL="171450" indent="-171450">
              <a:lnSpc>
                <a:spcPct val="115000"/>
              </a:lnSpc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По возможности расскажите о практической значимости: где и как можно применить результат. </a:t>
            </a:r>
          </a:p>
          <a:p>
            <a:pPr marL="171450" indent="-171450">
              <a:lnSpc>
                <a:spcPct val="115000"/>
              </a:lnSpc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Поясните, чего именно вы хотели добиться и, по возможности, кому это может быть полезно</a:t>
            </a:r>
          </a:p>
        </p:txBody>
      </p:sp>
    </p:spTree>
    <p:extLst>
      <p:ext uri="{BB962C8B-B14F-4D97-AF65-F5344CB8AC3E}">
        <p14:creationId xmlns:p14="http://schemas.microsoft.com/office/powerpoint/2010/main" val="330475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8a69967c6e_0_588"/>
          <p:cNvSpPr txBox="1">
            <a:spLocks noGrp="1"/>
          </p:cNvSpPr>
          <p:nvPr>
            <p:ph type="title"/>
          </p:nvPr>
        </p:nvSpPr>
        <p:spPr>
          <a:xfrm>
            <a:off x="1663350" y="418903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 dirty="0"/>
              <a:t>Подход / Инструменты / Методы, применяемые в работе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63" name="Google Shape;63;g18a69967c6e_0_588"/>
          <p:cNvSpPr txBox="1">
            <a:spLocks noGrp="1"/>
          </p:cNvSpPr>
          <p:nvPr>
            <p:ph type="body" idx="1"/>
          </p:nvPr>
        </p:nvSpPr>
        <p:spPr>
          <a:xfrm>
            <a:off x="1663349" y="1923150"/>
            <a:ext cx="9460525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 dirty="0"/>
              <a:t>Текст</a:t>
            </a:r>
            <a:endParaRPr sz="2400" dirty="0"/>
          </a:p>
        </p:txBody>
      </p:sp>
      <p:sp>
        <p:nvSpPr>
          <p:cNvPr id="2" name="Google Shape;116;p13">
            <a:extLst>
              <a:ext uri="{FF2B5EF4-FFF2-40B4-BE49-F238E27FC236}">
                <a16:creationId xmlns:a16="http://schemas.microsoft.com/office/drawing/2014/main" id="{75092177-DF52-8E1C-B9F0-AD40F44F7D1D}"/>
              </a:ext>
            </a:extLst>
          </p:cNvPr>
          <p:cNvSpPr/>
          <p:nvPr/>
        </p:nvSpPr>
        <p:spPr>
          <a:xfrm>
            <a:off x="7933038" y="1081753"/>
            <a:ext cx="3693586" cy="2306981"/>
          </a:xfrm>
          <a:prstGeom prst="rect">
            <a:avLst/>
          </a:prstGeom>
          <a:solidFill>
            <a:srgbClr val="FFD751">
              <a:alpha val="2940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Обозначьте 2–3 ключевых инструмента / технологии, которыми вы пользовались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Дайте краткое пояснение выбора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Возможная мини-графика: схема, </a:t>
            </a:r>
            <a:r>
              <a:rPr lang="en" sz="1200" dirty="0"/>
              <a:t>pipeline, </a:t>
            </a:r>
            <a:r>
              <a:rPr lang="ru-RU" sz="1200" dirty="0"/>
              <a:t>таблица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8a69967c6e_0_596"/>
          <p:cNvSpPr txBox="1">
            <a:spLocks noGrp="1"/>
          </p:cNvSpPr>
          <p:nvPr>
            <p:ph type="title"/>
          </p:nvPr>
        </p:nvSpPr>
        <p:spPr>
          <a:xfrm>
            <a:off x="1638450" y="251392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Основная часть (слайд 5-7/8)</a:t>
            </a:r>
            <a:endParaRPr dirty="0"/>
          </a:p>
        </p:txBody>
      </p:sp>
      <p:sp>
        <p:nvSpPr>
          <p:cNvPr id="71" name="Google Shape;71;g18a69967c6e_0_596"/>
          <p:cNvSpPr txBox="1">
            <a:spLocks noGrp="1"/>
          </p:cNvSpPr>
          <p:nvPr>
            <p:ph type="body" idx="1"/>
          </p:nvPr>
        </p:nvSpPr>
        <p:spPr>
          <a:xfrm>
            <a:off x="1049573" y="1935025"/>
            <a:ext cx="10201524" cy="437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 dirty="0"/>
              <a:t>Текст</a:t>
            </a:r>
            <a:endParaRPr sz="2400" dirty="0"/>
          </a:p>
        </p:txBody>
      </p:sp>
      <p:sp>
        <p:nvSpPr>
          <p:cNvPr id="2" name="Google Shape;116;p13">
            <a:extLst>
              <a:ext uri="{FF2B5EF4-FFF2-40B4-BE49-F238E27FC236}">
                <a16:creationId xmlns:a16="http://schemas.microsoft.com/office/drawing/2014/main" id="{9D526634-F6A0-1660-55FB-5E83914114EA}"/>
              </a:ext>
            </a:extLst>
          </p:cNvPr>
          <p:cNvSpPr/>
          <p:nvPr/>
        </p:nvSpPr>
        <p:spPr>
          <a:xfrm>
            <a:off x="8204886" y="508874"/>
            <a:ext cx="3693586" cy="2306981"/>
          </a:xfrm>
          <a:prstGeom prst="rect">
            <a:avLst/>
          </a:prstGeom>
          <a:solidFill>
            <a:srgbClr val="FFD751">
              <a:alpha val="2940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Опишите основные этапы работы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Покажите результаты (таблицы, графики, визуализации)</a:t>
            </a:r>
          </a:p>
          <a:p>
            <a:pPr marL="171450" indent="-171450">
              <a:lnSpc>
                <a:spcPct val="115000"/>
              </a:lnSpc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Расскажите не только что сделали, но и что это показало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Если применимо — сравнение “до / после”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ru-RU" sz="1200" dirty="0"/>
              <a:t>Возможная визуализация: графики, диаграммы, интерфейсы, примеры кода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>
            <a:spLocks noGrp="1"/>
          </p:cNvSpPr>
          <p:nvPr>
            <p:ph type="body" idx="1"/>
          </p:nvPr>
        </p:nvSpPr>
        <p:spPr>
          <a:xfrm>
            <a:off x="1663349" y="1935025"/>
            <a:ext cx="6147000" cy="4373700"/>
          </a:xfrm>
          <a:prstGeom prst="roundRect">
            <a:avLst>
              <a:gd name="adj" fmla="val 454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>
                <a:latin typeface="Courier New"/>
                <a:ea typeface="Courier New"/>
                <a:cs typeface="Courier New"/>
                <a:sym typeface="Courier New"/>
              </a:rPr>
              <a:t>Код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9236890" y="2092466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9236890" y="3284804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236890" y="4477142"/>
            <a:ext cx="2512200" cy="95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7"/>
          <p:cNvCxnSpPr>
            <a:stCxn id="79" idx="1"/>
          </p:cNvCxnSpPr>
          <p:nvPr/>
        </p:nvCxnSpPr>
        <p:spPr>
          <a:xfrm rot="10800000">
            <a:off x="6334690" y="2384066"/>
            <a:ext cx="2902200" cy="19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7"/>
          <p:cNvCxnSpPr/>
          <p:nvPr/>
        </p:nvCxnSpPr>
        <p:spPr>
          <a:xfrm rot="10800000">
            <a:off x="6772090" y="3599308"/>
            <a:ext cx="2464800" cy="16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7"/>
          <p:cNvCxnSpPr/>
          <p:nvPr/>
        </p:nvCxnSpPr>
        <p:spPr>
          <a:xfrm rot="10800000">
            <a:off x="8092390" y="4954616"/>
            <a:ext cx="1144500" cy="7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663349" y="238264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Основная часть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64a1591f3_0_10"/>
          <p:cNvSpPr>
            <a:spLocks noGrp="1"/>
          </p:cNvSpPr>
          <p:nvPr>
            <p:ph type="body" idx="1"/>
          </p:nvPr>
        </p:nvSpPr>
        <p:spPr>
          <a:xfrm>
            <a:off x="1663349" y="1935025"/>
            <a:ext cx="6147000" cy="4373700"/>
          </a:xfrm>
          <a:prstGeom prst="roundRect">
            <a:avLst>
              <a:gd name="adj" fmla="val 454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dirty="0"/>
              <a:t>Объект/график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" name="Google Shape;92;g2f64a1591f3_0_10"/>
          <p:cNvSpPr/>
          <p:nvPr/>
        </p:nvSpPr>
        <p:spPr>
          <a:xfrm>
            <a:off x="9236890" y="2092466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f64a1591f3_0_10"/>
          <p:cNvSpPr/>
          <p:nvPr/>
        </p:nvSpPr>
        <p:spPr>
          <a:xfrm>
            <a:off x="9236890" y="3284804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f64a1591f3_0_10"/>
          <p:cNvSpPr/>
          <p:nvPr/>
        </p:nvSpPr>
        <p:spPr>
          <a:xfrm>
            <a:off x="9236890" y="4477142"/>
            <a:ext cx="2512200" cy="95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2f64a1591f3_0_10"/>
          <p:cNvCxnSpPr>
            <a:stCxn id="92" idx="1"/>
          </p:cNvCxnSpPr>
          <p:nvPr/>
        </p:nvCxnSpPr>
        <p:spPr>
          <a:xfrm rot="10800000">
            <a:off x="6334690" y="2384066"/>
            <a:ext cx="2902200" cy="19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6" name="Google Shape;96;g2f64a1591f3_0_10"/>
          <p:cNvCxnSpPr/>
          <p:nvPr/>
        </p:nvCxnSpPr>
        <p:spPr>
          <a:xfrm rot="10800000">
            <a:off x="6772090" y="3599308"/>
            <a:ext cx="2464800" cy="16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7" name="Google Shape;97;g2f64a1591f3_0_10"/>
          <p:cNvCxnSpPr/>
          <p:nvPr/>
        </p:nvCxnSpPr>
        <p:spPr>
          <a:xfrm rot="10800000">
            <a:off x="8092390" y="4954616"/>
            <a:ext cx="1144500" cy="7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8" name="Google Shape;98;g2f64a1591f3_0_10"/>
          <p:cNvSpPr txBox="1">
            <a:spLocks noGrp="1"/>
          </p:cNvSpPr>
          <p:nvPr>
            <p:ph type="title"/>
          </p:nvPr>
        </p:nvSpPr>
        <p:spPr>
          <a:xfrm>
            <a:off x="1663349" y="297925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Основная часть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7f4edb2c82_3_0"/>
          <p:cNvSpPr txBox="1"/>
          <p:nvPr/>
        </p:nvSpPr>
        <p:spPr>
          <a:xfrm>
            <a:off x="1663349" y="1922475"/>
            <a:ext cx="7117200" cy="7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17f4edb2c82_3_0"/>
          <p:cNvSpPr>
            <a:spLocks noGrp="1"/>
          </p:cNvSpPr>
          <p:nvPr>
            <p:ph type="body" idx="1"/>
          </p:nvPr>
        </p:nvSpPr>
        <p:spPr>
          <a:xfrm>
            <a:off x="1663349" y="2677848"/>
            <a:ext cx="7104000" cy="1325700"/>
          </a:xfrm>
          <a:prstGeom prst="roundRect">
            <a:avLst>
              <a:gd name="adj" fmla="val 454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>
                <a:latin typeface="Courier New"/>
                <a:ea typeface="Courier New"/>
                <a:cs typeface="Courier New"/>
                <a:sym typeface="Courier New"/>
              </a:rPr>
              <a:t>Код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" name="Google Shape;106;g17f4edb2c82_3_0"/>
          <p:cNvSpPr/>
          <p:nvPr/>
        </p:nvSpPr>
        <p:spPr>
          <a:xfrm>
            <a:off x="1676602" y="4977098"/>
            <a:ext cx="7104000" cy="1325700"/>
          </a:xfrm>
          <a:prstGeom prst="roundRect">
            <a:avLst>
              <a:gd name="adj" fmla="val 454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Код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7f4edb2c82_3_0"/>
          <p:cNvSpPr txBox="1"/>
          <p:nvPr/>
        </p:nvSpPr>
        <p:spPr>
          <a:xfrm>
            <a:off x="1676602" y="4226768"/>
            <a:ext cx="71172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lang="ru-RU" sz="2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17f4edb2c82_3_0"/>
          <p:cNvSpPr txBox="1">
            <a:spLocks noGrp="1"/>
          </p:cNvSpPr>
          <p:nvPr>
            <p:ph type="title"/>
          </p:nvPr>
        </p:nvSpPr>
        <p:spPr>
          <a:xfrm>
            <a:off x="1663349" y="373582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Основная часть</a:t>
            </a:r>
          </a:p>
        </p:txBody>
      </p:sp>
      <p:sp>
        <p:nvSpPr>
          <p:cNvPr id="2" name="Google Shape;94;g2f64a1591f3_0_10">
            <a:extLst>
              <a:ext uri="{FF2B5EF4-FFF2-40B4-BE49-F238E27FC236}">
                <a16:creationId xmlns:a16="http://schemas.microsoft.com/office/drawing/2014/main" id="{9F2142BA-DFC2-95CB-9B17-FE240C015291}"/>
              </a:ext>
            </a:extLst>
          </p:cNvPr>
          <p:cNvSpPr/>
          <p:nvPr/>
        </p:nvSpPr>
        <p:spPr>
          <a:xfrm>
            <a:off x="9272551" y="2770725"/>
            <a:ext cx="2512200" cy="95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97;g2f64a1591f3_0_10">
            <a:extLst>
              <a:ext uri="{FF2B5EF4-FFF2-40B4-BE49-F238E27FC236}">
                <a16:creationId xmlns:a16="http://schemas.microsoft.com/office/drawing/2014/main" id="{8249F0C1-0B76-6434-7569-FCB0E6FD18BE}"/>
              </a:ext>
            </a:extLst>
          </p:cNvPr>
          <p:cNvCxnSpPr/>
          <p:nvPr/>
        </p:nvCxnSpPr>
        <p:spPr>
          <a:xfrm rot="10800000">
            <a:off x="8128051" y="3248199"/>
            <a:ext cx="1144500" cy="7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Google Shape;94;g2f64a1591f3_0_10">
            <a:extLst>
              <a:ext uri="{FF2B5EF4-FFF2-40B4-BE49-F238E27FC236}">
                <a16:creationId xmlns:a16="http://schemas.microsoft.com/office/drawing/2014/main" id="{51D8C3C7-F11B-D069-D12B-F14F8EADB44E}"/>
              </a:ext>
            </a:extLst>
          </p:cNvPr>
          <p:cNvSpPr/>
          <p:nvPr/>
        </p:nvSpPr>
        <p:spPr>
          <a:xfrm>
            <a:off x="9197134" y="5105295"/>
            <a:ext cx="2512200" cy="95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Google Shape;97;g2f64a1591f3_0_10">
            <a:extLst>
              <a:ext uri="{FF2B5EF4-FFF2-40B4-BE49-F238E27FC236}">
                <a16:creationId xmlns:a16="http://schemas.microsoft.com/office/drawing/2014/main" id="{FC96FB4D-C3B4-75C1-13A1-46FF1CA64E77}"/>
              </a:ext>
            </a:extLst>
          </p:cNvPr>
          <p:cNvCxnSpPr/>
          <p:nvPr/>
        </p:nvCxnSpPr>
        <p:spPr>
          <a:xfrm rot="10800000">
            <a:off x="8052634" y="5582769"/>
            <a:ext cx="1144500" cy="7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FE5973-E0A2-BB68-5F0B-AEC77C0F06A0}"/>
              </a:ext>
            </a:extLst>
          </p:cNvPr>
          <p:cNvSpPr txBox="1"/>
          <p:nvPr/>
        </p:nvSpPr>
        <p:spPr>
          <a:xfrm>
            <a:off x="2894194" y="5793222"/>
            <a:ext cx="6094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1" dirty="0">
                <a:solidFill>
                  <a:srgbClr val="00B050"/>
                </a:solidFill>
              </a:rPr>
              <a:t>Тайминг</a:t>
            </a:r>
            <a:r>
              <a:rPr lang="ru-RU" sz="1400" i="1" dirty="0">
                <a:solidFill>
                  <a:srgbClr val="00B050"/>
                </a:solidFill>
              </a:rPr>
              <a:t>: 1 мин</a:t>
            </a:r>
            <a:endParaRPr lang="ru-RU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>
            <a:spLocks noGrp="1"/>
          </p:cNvSpPr>
          <p:nvPr>
            <p:ph type="body" idx="1"/>
          </p:nvPr>
        </p:nvSpPr>
        <p:spPr>
          <a:xfrm>
            <a:off x="1663348" y="1923150"/>
            <a:ext cx="9150425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ru-RU" dirty="0"/>
              <a:t>Текст</a:t>
            </a:r>
            <a:endParaRPr dirty="0"/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9778952" y="4558748"/>
            <a:ext cx="2413048" cy="231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1663349" y="2911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Заключение (выводы)</a:t>
            </a:r>
            <a:endParaRPr dirty="0"/>
          </a:p>
        </p:txBody>
      </p:sp>
      <p:sp>
        <p:nvSpPr>
          <p:cNvPr id="116" name="Google Shape;116;p13"/>
          <p:cNvSpPr/>
          <p:nvPr/>
        </p:nvSpPr>
        <p:spPr>
          <a:xfrm>
            <a:off x="7299189" y="388686"/>
            <a:ext cx="4537500" cy="1909500"/>
          </a:xfrm>
          <a:prstGeom prst="rect">
            <a:avLst/>
          </a:prstGeom>
          <a:solidFill>
            <a:srgbClr val="FFD751">
              <a:alpha val="2940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lang="ru-RU" sz="1150" i="1" dirty="0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Сделайте 2–3 ключевых вывода</a:t>
            </a: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lang="ru-RU" sz="1150" i="1" dirty="0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По возможности расскажите о возможности интеграции проекта\компонентов проекта</a:t>
            </a:r>
            <a:endParaRPr sz="1150" i="1" dirty="0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lang="ru-RU" sz="1150" i="1" dirty="0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Подведите итоги</a:t>
            </a:r>
            <a:endParaRPr sz="1150" i="1" dirty="0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lang="ru-RU" sz="1150" i="1" dirty="0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Сделайте  короткое и запоминающееся высказывание в конце (по желанию).</a:t>
            </a:r>
            <a:endParaRPr sz="1150" i="1" dirty="0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259</Words>
  <Application>Microsoft Macintosh PowerPoint</Application>
  <PresentationFormat>Широкоэкранный</PresentationFormat>
  <Paragraphs>61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Roboto</vt:lpstr>
      <vt:lpstr>Simple Light</vt:lpstr>
      <vt:lpstr>Название проекта</vt:lpstr>
      <vt:lpstr>Проблема/Введение</vt:lpstr>
      <vt:lpstr>Цели и задачи  </vt:lpstr>
      <vt:lpstr>Подход / Инструменты / Методы, применяемые в работе </vt:lpstr>
      <vt:lpstr>Основная часть (слайд 5-7/8)</vt:lpstr>
      <vt:lpstr>Основная часть</vt:lpstr>
      <vt:lpstr>Основная часть</vt:lpstr>
      <vt:lpstr>Основная часть</vt:lpstr>
      <vt:lpstr>Заключение (выводы)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Methodist</dc:creator>
  <cp:lastModifiedBy>Microsoft Office User</cp:lastModifiedBy>
  <cp:revision>6</cp:revision>
  <dcterms:created xsi:type="dcterms:W3CDTF">2022-08-10T10:42:42Z</dcterms:created>
  <dcterms:modified xsi:type="dcterms:W3CDTF">2025-10-24T05:10:08Z</dcterms:modified>
</cp:coreProperties>
</file>